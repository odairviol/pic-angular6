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6"/>
  </p:notesMasterIdLst>
  <p:sldIdLst>
    <p:sldId id="256" r:id="rId9"/>
    <p:sldId id="257" r:id="rId10"/>
    <p:sldId id="263" r:id="rId11"/>
    <p:sldId id="262" r:id="rId12"/>
    <p:sldId id="264" r:id="rId13"/>
    <p:sldId id="265" r:id="rId14"/>
    <p:sldId id="261" r:id="rId15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pPr/>
              <a:t>01/10/2018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96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4495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367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288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512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42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10/1/2018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medium.com/@jitubutwal144/basic-overview-of-just-in-time-jit-vs-ahead-of-time-aot-compilation-in-angular-applications-d24f04d8f7c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blog.angulartraining.com/how-to-manage-different-environments-with-angular-cli-883c26e99d15" TargetMode="External"/><Relationship Id="rId5" Type="http://schemas.openxmlformats.org/officeDocument/2006/relationships/hyperlink" Target="https://angular.io/guide/deployment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Builds e </a:t>
            </a:r>
            <a:r>
              <a:rPr lang="pt-BR" sz="3600" b="1" dirty="0" err="1" smtClean="0">
                <a:solidFill>
                  <a:schemeClr val="bg1"/>
                </a:solidFill>
              </a:rPr>
              <a:t>Deploys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" y="1710701"/>
            <a:ext cx="883010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Todo artefato criado no Angular é escrito em </a:t>
            </a:r>
            <a:r>
              <a:rPr lang="pt-BR" sz="2800" b="1" dirty="0" err="1"/>
              <a:t>TypeScript</a:t>
            </a:r>
            <a:r>
              <a:rPr lang="pt-BR" sz="2800" dirty="0"/>
              <a:t>, contudo, os navegadores ainda não interpretam essa linguagem nativamente. Assim, faz-se necessário, primeiro, compilar nosso projeto para </a:t>
            </a:r>
            <a:r>
              <a:rPr lang="pt-BR" sz="2800" dirty="0" err="1"/>
              <a:t>JavaScript</a:t>
            </a:r>
            <a:r>
              <a:rPr lang="pt-BR" sz="2800" dirty="0"/>
              <a:t> e realizar algumas tarefas que vão deixá-lo mais apto a rodar em um servidor de produção.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80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Principais comandos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709" y="2001335"/>
            <a:ext cx="904552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400" b="1" dirty="0" err="1"/>
              <a:t>ng</a:t>
            </a:r>
            <a:r>
              <a:rPr lang="pt-BR" sz="3400" b="1" dirty="0"/>
              <a:t> </a:t>
            </a:r>
            <a:r>
              <a:rPr lang="pt-BR" sz="3400" b="1" dirty="0" smtClean="0"/>
              <a:t>build</a:t>
            </a:r>
            <a:r>
              <a:rPr lang="pt-BR" sz="2800" dirty="0" smtClean="0"/>
              <a:t> – Irá fazer o </a:t>
            </a:r>
            <a:r>
              <a:rPr lang="pt-BR" sz="2800" dirty="0" err="1" smtClean="0"/>
              <a:t>transpiler</a:t>
            </a:r>
            <a:r>
              <a:rPr lang="pt-BR" sz="2800" dirty="0" smtClean="0"/>
              <a:t> de </a:t>
            </a:r>
            <a:r>
              <a:rPr lang="pt-BR" sz="2800" dirty="0" err="1" smtClean="0"/>
              <a:t>TypeScript</a:t>
            </a:r>
            <a:r>
              <a:rPr lang="pt-BR" sz="2800" dirty="0" smtClean="0"/>
              <a:t> para </a:t>
            </a:r>
            <a:r>
              <a:rPr lang="pt-BR" sz="2800" dirty="0" err="1" smtClean="0"/>
              <a:t>JavaScript</a:t>
            </a:r>
            <a:r>
              <a:rPr lang="pt-BR" sz="2800" dirty="0" smtClean="0"/>
              <a:t> e gerará uma pasta </a:t>
            </a:r>
            <a:r>
              <a:rPr lang="pt-BR" sz="2800" dirty="0" err="1" smtClean="0"/>
              <a:t>dist</a:t>
            </a:r>
            <a:r>
              <a:rPr lang="pt-BR" sz="2800" dirty="0" smtClean="0"/>
              <a:t>, na qual estarão os arquivos prontos para serem abertos em um navegador.</a:t>
            </a:r>
            <a:r>
              <a:rPr lang="pt-BR" sz="2800" dirty="0"/>
              <a:t> </a:t>
            </a:r>
            <a:r>
              <a:rPr lang="pt-BR" sz="2800" dirty="0"/>
              <a:t>No entanto, os arquivos resultantes desse processamento ainda não estão </a:t>
            </a:r>
            <a:r>
              <a:rPr lang="pt-BR" sz="2800" dirty="0" err="1"/>
              <a:t>minificados</a:t>
            </a:r>
            <a:r>
              <a:rPr lang="pt-BR" sz="2800" dirty="0"/>
              <a:t> e </a:t>
            </a:r>
            <a:r>
              <a:rPr lang="pt-BR" sz="2800" i="1" dirty="0" err="1"/>
              <a:t>uglified</a:t>
            </a:r>
            <a:r>
              <a:rPr lang="pt-BR" sz="2800" dirty="0"/>
              <a:t> (processo que torna os arquivos ilegíveis), como todo projeto em produção deveria ser. </a:t>
            </a: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190491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Ng</a:t>
            </a:r>
            <a:r>
              <a:rPr lang="pt-BR" sz="3600" b="1" dirty="0" smtClean="0">
                <a:solidFill>
                  <a:schemeClr val="bg1"/>
                </a:solidFill>
              </a:rPr>
              <a:t> Build Parâmetros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98475" y="1606059"/>
            <a:ext cx="904552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800" b="1" dirty="0" err="1"/>
              <a:t>ng</a:t>
            </a:r>
            <a:r>
              <a:rPr lang="pt-BR" sz="3800" b="1" dirty="0"/>
              <a:t> build </a:t>
            </a:r>
            <a:r>
              <a:rPr lang="pt-BR" sz="3800" b="1" dirty="0" smtClean="0"/>
              <a:t>--</a:t>
            </a:r>
            <a:r>
              <a:rPr lang="pt-BR" sz="3800" b="1" dirty="0" err="1" smtClean="0"/>
              <a:t>prod</a:t>
            </a:r>
            <a:r>
              <a:rPr lang="pt-BR" sz="3400" b="1" dirty="0" smtClean="0"/>
              <a:t> </a:t>
            </a:r>
            <a:r>
              <a:rPr lang="pt-BR" sz="3400" dirty="0" smtClean="0"/>
              <a:t>– </a:t>
            </a:r>
            <a:r>
              <a:rPr lang="pt-BR" sz="3400" dirty="0"/>
              <a:t>Gera build de produção com as configurações padrões do </a:t>
            </a:r>
            <a:r>
              <a:rPr lang="pt-BR" sz="3400" b="1" dirty="0" err="1" smtClean="0"/>
              <a:t>angular.json</a:t>
            </a:r>
            <a:r>
              <a:rPr lang="pt-BR" sz="3400" dirty="0" smtClean="0"/>
              <a:t>.</a:t>
            </a:r>
            <a:endParaRPr lang="pt-BR" sz="3400" dirty="0"/>
          </a:p>
          <a:p>
            <a:endParaRPr lang="pt-BR" sz="3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400" dirty="0" smtClean="0"/>
              <a:t>É possível gerar build para diferentes ambientes no processo de desenvolvimento do projeto. As configurações para cada ambiente devem ser definidas no </a:t>
            </a:r>
            <a:r>
              <a:rPr lang="pt-BR" sz="3400" b="1" dirty="0" err="1" smtClean="0"/>
              <a:t>angular.json</a:t>
            </a:r>
            <a:r>
              <a:rPr lang="pt-BR" sz="3400" dirty="0" smtClean="0"/>
              <a:t>.</a:t>
            </a:r>
            <a:endParaRPr lang="pt-BR" sz="3400" dirty="0"/>
          </a:p>
        </p:txBody>
      </p:sp>
    </p:spTree>
    <p:extLst>
      <p:ext uri="{BB962C8B-B14F-4D97-AF65-F5344CB8AC3E}">
        <p14:creationId xmlns:p14="http://schemas.microsoft.com/office/powerpoint/2010/main" val="294339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Ng</a:t>
            </a:r>
            <a:r>
              <a:rPr lang="pt-BR" sz="3600" b="1" dirty="0" smtClean="0">
                <a:solidFill>
                  <a:schemeClr val="bg1"/>
                </a:solidFill>
              </a:rPr>
              <a:t> Build Parâmetros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289544" y="1710701"/>
            <a:ext cx="854055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800" b="1" dirty="0" err="1"/>
              <a:t>ng</a:t>
            </a:r>
            <a:r>
              <a:rPr lang="pt-BR" sz="3800" b="1" dirty="0"/>
              <a:t> build --</a:t>
            </a:r>
            <a:r>
              <a:rPr lang="pt-BR" sz="3800" b="1" dirty="0" err="1" smtClean="0"/>
              <a:t>configuration</a:t>
            </a:r>
            <a:r>
              <a:rPr lang="pt-BR" sz="3800" b="1" dirty="0" smtClean="0"/>
              <a:t>= ?</a:t>
            </a:r>
            <a:endParaRPr lang="pt-BR" sz="3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3400" dirty="0" smtClean="0"/>
              <a:t>Comando utilizado para definir para qual ambiente queremos gerar nossa build.</a:t>
            </a:r>
          </a:p>
          <a:p>
            <a:pPr lvl="1"/>
            <a:endParaRPr lang="pt-BR" sz="3400" dirty="0" smtClean="0"/>
          </a:p>
          <a:p>
            <a:pPr lvl="1"/>
            <a:r>
              <a:rPr lang="pt-BR" sz="3400" dirty="0" smtClean="0"/>
              <a:t>Exemplo: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3600" b="1" dirty="0" err="1"/>
              <a:t>ng</a:t>
            </a:r>
            <a:r>
              <a:rPr lang="pt-BR" sz="3600" b="1" dirty="0"/>
              <a:t> build --</a:t>
            </a:r>
            <a:r>
              <a:rPr lang="pt-BR" sz="3600" b="1" dirty="0" err="1" smtClean="0"/>
              <a:t>configuration</a:t>
            </a:r>
            <a:r>
              <a:rPr lang="pt-BR" sz="3600" b="1" dirty="0" smtClean="0"/>
              <a:t>=</a:t>
            </a:r>
            <a:r>
              <a:rPr lang="pt-BR" sz="3600" b="1" dirty="0" err="1" smtClean="0"/>
              <a:t>test</a:t>
            </a:r>
            <a:endParaRPr lang="pt-BR" sz="36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3600" b="1" dirty="0" err="1" smtClean="0"/>
              <a:t>ng</a:t>
            </a:r>
            <a:r>
              <a:rPr lang="pt-BR" sz="3600" b="1" dirty="0" smtClean="0"/>
              <a:t> build --</a:t>
            </a:r>
            <a:r>
              <a:rPr lang="pt-BR" sz="3600" b="1" dirty="0" err="1" smtClean="0"/>
              <a:t>configuration</a:t>
            </a:r>
            <a:r>
              <a:rPr lang="pt-BR" sz="3600" b="1" dirty="0" smtClean="0"/>
              <a:t>=</a:t>
            </a:r>
            <a:r>
              <a:rPr lang="pt-BR" sz="3600" b="1" dirty="0" err="1" smtClean="0"/>
              <a:t>dev</a:t>
            </a:r>
            <a:endParaRPr lang="pt-BR" sz="3400" dirty="0"/>
          </a:p>
        </p:txBody>
      </p:sp>
    </p:spTree>
    <p:extLst>
      <p:ext uri="{BB962C8B-B14F-4D97-AF65-F5344CB8AC3E}">
        <p14:creationId xmlns:p14="http://schemas.microsoft.com/office/powerpoint/2010/main" val="362329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Jit</a:t>
            </a:r>
            <a:r>
              <a:rPr lang="pt-BR" sz="3600" b="1" dirty="0" smtClean="0">
                <a:solidFill>
                  <a:schemeClr val="bg1"/>
                </a:solidFill>
              </a:rPr>
              <a:t> e </a:t>
            </a:r>
            <a:r>
              <a:rPr lang="pt-BR" sz="3600" b="1" dirty="0" err="1" smtClean="0">
                <a:solidFill>
                  <a:schemeClr val="bg1"/>
                </a:solidFill>
              </a:rPr>
              <a:t>Aot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21418" y="1482811"/>
            <a:ext cx="9133291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400" b="1" dirty="0" err="1"/>
              <a:t>Compilação</a:t>
            </a:r>
            <a:r>
              <a:rPr lang="en-US" sz="3400" b="1" dirty="0"/>
              <a:t> </a:t>
            </a:r>
            <a:r>
              <a:rPr lang="en-US" sz="3400" b="1" dirty="0" err="1"/>
              <a:t>JiT</a:t>
            </a:r>
            <a:r>
              <a:rPr lang="en-US" sz="3400" b="1" dirty="0"/>
              <a:t> (just in time</a:t>
            </a:r>
            <a:r>
              <a:rPr lang="en-US" sz="3400" b="1" dirty="0" smtClean="0"/>
              <a:t>)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		C</a:t>
            </a:r>
            <a:r>
              <a:rPr lang="pt-BR" sz="2400" dirty="0" err="1" smtClean="0"/>
              <a:t>ompila</a:t>
            </a:r>
            <a:r>
              <a:rPr lang="pt-BR" sz="2400" dirty="0" smtClean="0"/>
              <a:t> </a:t>
            </a:r>
            <a:r>
              <a:rPr lang="pt-BR" sz="2400" dirty="0"/>
              <a:t>o código apenas no momento de carregar a </a:t>
            </a:r>
            <a:r>
              <a:rPr lang="pt-BR" sz="2400" dirty="0" smtClean="0"/>
              <a:t>	página 	no </a:t>
            </a:r>
            <a:r>
              <a:rPr lang="pt-BR" sz="2400" dirty="0"/>
              <a:t>navegador. O navegador baixará o compilador e </a:t>
            </a:r>
            <a:r>
              <a:rPr lang="pt-BR" sz="2400" dirty="0" smtClean="0"/>
              <a:t>	criará </a:t>
            </a:r>
            <a:r>
              <a:rPr lang="pt-BR" sz="2400" dirty="0"/>
              <a:t>o </a:t>
            </a:r>
            <a:r>
              <a:rPr lang="pt-BR" sz="2400" dirty="0" smtClean="0"/>
              <a:t>	código </a:t>
            </a:r>
            <a:r>
              <a:rPr lang="pt-BR" sz="2400" dirty="0"/>
              <a:t>do aplicativo e o </a:t>
            </a:r>
            <a:r>
              <a:rPr lang="pt-BR" sz="2400" dirty="0" err="1"/>
              <a:t>renderizará</a:t>
            </a:r>
            <a:r>
              <a:rPr lang="pt-BR" sz="2400" dirty="0"/>
              <a:t>.</a:t>
            </a:r>
          </a:p>
          <a:p>
            <a:r>
              <a:rPr lang="pt-BR" sz="2400" dirty="0" smtClean="0"/>
              <a:t>	Apropriado para ambiente </a:t>
            </a:r>
            <a:r>
              <a:rPr lang="pt-BR" sz="2400" dirty="0"/>
              <a:t>de desenvolvimento</a:t>
            </a:r>
            <a:r>
              <a:rPr lang="pt-BR" sz="2400" dirty="0" smtClean="0"/>
              <a:t>.</a:t>
            </a:r>
          </a:p>
          <a:p>
            <a:endParaRPr lang="pt-BR" sz="25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400" b="1" dirty="0" err="1"/>
              <a:t>Compilação</a:t>
            </a:r>
            <a:r>
              <a:rPr lang="en-US" sz="3400" b="1" dirty="0"/>
              <a:t> </a:t>
            </a:r>
            <a:r>
              <a:rPr lang="en-US" sz="3400" b="1" dirty="0" err="1"/>
              <a:t>AoT</a:t>
            </a:r>
            <a:r>
              <a:rPr lang="en-US" sz="3400" b="1" dirty="0"/>
              <a:t> (Ahead of Time</a:t>
            </a:r>
            <a:r>
              <a:rPr lang="en-US" sz="3400" b="1" dirty="0" smtClean="0"/>
              <a:t>)</a:t>
            </a:r>
          </a:p>
          <a:p>
            <a:r>
              <a:rPr lang="pt-BR" sz="2400" dirty="0" smtClean="0"/>
              <a:t>		Ele </a:t>
            </a:r>
            <a:r>
              <a:rPr lang="pt-BR" sz="2400" dirty="0"/>
              <a:t>compila todo o código no momento da criação do </a:t>
            </a:r>
            <a:r>
              <a:rPr lang="pt-BR" sz="2400" dirty="0" smtClean="0"/>
              <a:t>	aplicativo</a:t>
            </a:r>
            <a:r>
              <a:rPr lang="pt-BR" sz="2400" dirty="0"/>
              <a:t>. Portanto, o navegador não </a:t>
            </a:r>
            <a:r>
              <a:rPr lang="pt-BR" sz="2400" dirty="0" smtClean="0"/>
              <a:t>precisa baixar </a:t>
            </a:r>
            <a:r>
              <a:rPr lang="pt-BR" sz="2400" dirty="0"/>
              <a:t>o </a:t>
            </a:r>
            <a:r>
              <a:rPr lang="pt-BR" sz="2400" dirty="0" smtClean="0"/>
              <a:t>	compilador </a:t>
            </a:r>
            <a:r>
              <a:rPr lang="pt-BR" sz="2400" dirty="0"/>
              <a:t>e compilar o código. Nesse método, o </a:t>
            </a:r>
            <a:r>
              <a:rPr lang="pt-BR" sz="2400" dirty="0" smtClean="0"/>
              <a:t>	navegador 	pode </a:t>
            </a:r>
            <a:r>
              <a:rPr lang="pt-BR" sz="2400" dirty="0"/>
              <a:t>facilmente </a:t>
            </a:r>
            <a:r>
              <a:rPr lang="pt-BR" sz="2400" dirty="0" err="1"/>
              <a:t>renderizar</a:t>
            </a:r>
            <a:r>
              <a:rPr lang="pt-BR" sz="2400" dirty="0"/>
              <a:t> o aplicativo apenas </a:t>
            </a:r>
            <a:r>
              <a:rPr lang="pt-BR" sz="2400" dirty="0" smtClean="0"/>
              <a:t>	carregando </a:t>
            </a:r>
            <a:r>
              <a:rPr lang="pt-BR" sz="2400" dirty="0"/>
              <a:t>o </a:t>
            </a:r>
            <a:r>
              <a:rPr lang="pt-BR" sz="2400" dirty="0" smtClean="0"/>
              <a:t>	código já </a:t>
            </a:r>
            <a:r>
              <a:rPr lang="pt-BR" sz="2400" dirty="0"/>
              <a:t>compilado</a:t>
            </a:r>
            <a:r>
              <a:rPr lang="pt-BR" sz="2400" dirty="0" smtClean="0"/>
              <a:t>. Pode </a:t>
            </a:r>
            <a:r>
              <a:rPr lang="pt-BR" sz="2400" dirty="0"/>
              <a:t>ser usado no ambiente de </a:t>
            </a:r>
            <a:r>
              <a:rPr lang="pt-BR" sz="2400" dirty="0" smtClean="0"/>
              <a:t>		produção</a:t>
            </a:r>
            <a:endParaRPr lang="pt-BR" sz="3400" dirty="0"/>
          </a:p>
        </p:txBody>
      </p:sp>
    </p:spTree>
    <p:extLst>
      <p:ext uri="{BB962C8B-B14F-4D97-AF65-F5344CB8AC3E}">
        <p14:creationId xmlns:p14="http://schemas.microsoft.com/office/powerpoint/2010/main" val="121356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33" y="0"/>
            <a:ext cx="8977288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9433" y="1982450"/>
            <a:ext cx="86360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59943" y="1455515"/>
            <a:ext cx="9048467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500"/>
            </a:lvl1pPr>
          </a:lstStyle>
          <a:p>
            <a:endParaRPr lang="pt-BR" dirty="0" smtClean="0"/>
          </a:p>
          <a:p>
            <a:r>
              <a:rPr lang="pt-BR" dirty="0" smtClean="0"/>
              <a:t>Angular.io </a:t>
            </a:r>
            <a:r>
              <a:rPr lang="pt-BR" dirty="0"/>
              <a:t>Deployment </a:t>
            </a:r>
            <a:r>
              <a:rPr lang="pt-BR" dirty="0" smtClean="0"/>
              <a:t>- </a:t>
            </a:r>
            <a:r>
              <a:rPr lang="pt-BR" dirty="0" smtClean="0">
                <a:hlinkClick r:id="rId5"/>
              </a:rPr>
              <a:t>https</a:t>
            </a:r>
            <a:r>
              <a:rPr lang="pt-BR" dirty="0">
                <a:hlinkClick r:id="rId5"/>
              </a:rPr>
              <a:t>://</a:t>
            </a:r>
            <a:r>
              <a:rPr lang="pt-BR" dirty="0" smtClean="0">
                <a:hlinkClick r:id="rId5"/>
              </a:rPr>
              <a:t>angular.io/guide/deployment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Gerando Build </a:t>
            </a:r>
            <a:r>
              <a:rPr lang="pt-BR" dirty="0"/>
              <a:t>de </a:t>
            </a:r>
            <a:r>
              <a:rPr lang="pt-BR" dirty="0" smtClean="0"/>
              <a:t>Projetos </a:t>
            </a:r>
            <a:r>
              <a:rPr lang="pt-BR" dirty="0"/>
              <a:t>- </a:t>
            </a:r>
            <a:r>
              <a:rPr lang="pt-BR" dirty="0">
                <a:hlinkClick r:id="rId6"/>
              </a:rPr>
              <a:t>https://</a:t>
            </a:r>
            <a:r>
              <a:rPr lang="pt-BR" dirty="0" smtClean="0">
                <a:hlinkClick r:id="rId6"/>
              </a:rPr>
              <a:t>blog.angulartraining.com/how-to-manage-different-environments-with-angular-cli-883c26e99d15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Just in Time </a:t>
            </a:r>
            <a:r>
              <a:rPr lang="pt-BR" dirty="0" err="1" smtClean="0"/>
              <a:t>vs</a:t>
            </a:r>
            <a:r>
              <a:rPr lang="pt-BR" dirty="0" smtClean="0"/>
              <a:t> </a:t>
            </a:r>
            <a:r>
              <a:rPr lang="pt-BR" dirty="0" err="1" smtClean="0"/>
              <a:t>Ahead</a:t>
            </a:r>
            <a:r>
              <a:rPr lang="pt-BR" dirty="0" smtClean="0"/>
              <a:t> </a:t>
            </a:r>
            <a:r>
              <a:rPr lang="pt-BR" dirty="0" err="1" smtClean="0"/>
              <a:t>Of</a:t>
            </a:r>
            <a:r>
              <a:rPr lang="pt-BR" dirty="0"/>
              <a:t> Time - </a:t>
            </a:r>
            <a:r>
              <a:rPr lang="pt-BR" dirty="0">
                <a:hlinkClick r:id="rId7"/>
              </a:rPr>
              <a:t>https://medium.com/@</a:t>
            </a:r>
            <a:r>
              <a:rPr lang="pt-BR" dirty="0" smtClean="0">
                <a:hlinkClick r:id="rId7"/>
              </a:rPr>
              <a:t>jitubutwal144/basic-overview-of-just-in-time-jit-vs-ahead-of-time-aot-compilation-in-angular-applications-d24f04d8f7ca</a:t>
            </a:r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1361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4375</TotalTime>
  <Words>222</Words>
  <Application>Microsoft Office PowerPoint</Application>
  <PresentationFormat>Apresentação na tela (4:3)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7</vt:i4>
      </vt:variant>
    </vt:vector>
  </HeadingPairs>
  <TitlesOfParts>
    <vt:vector size="17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299</cp:revision>
  <dcterms:created xsi:type="dcterms:W3CDTF">2011-03-17T17:31:18Z</dcterms:created>
  <dcterms:modified xsi:type="dcterms:W3CDTF">2018-10-02T04:03:20Z</dcterms:modified>
</cp:coreProperties>
</file>